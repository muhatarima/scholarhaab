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C"/>
          </a:solidFill>
          <a:ln w="12700">
            <a:solidFill>
              <a:srgbClr val="020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20624">
              <a:alpha val="94000"/>
            </a:srgbClr>
          </a:solidFill>
          <a:ln w="12700">
            <a:solidFill>
              <a:srgbClr val="1206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48463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3108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13716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62179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44805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7432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058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58521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41148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3774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400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54864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7490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20116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7432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512064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3832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6459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6492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75488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12880" y="30175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12801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61264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43891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26517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9144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57607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40233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2860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486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5394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36576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920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00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</a:rPr>
              <a:t>SCHOLAR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457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</a:rPr>
              <a:t>HAAB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31520" y="13258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ScholarHAAB</a:t>
            </a:r>
            <a:endParaRPr lang="en-US" sz="5200" dirty="0"/>
          </a:p>
        </p:txBody>
      </p:sp>
      <p:sp>
        <p:nvSpPr>
          <p:cNvPr id="41" name="Text 39"/>
          <p:cNvSpPr/>
          <p:nvPr/>
        </p:nvSpPr>
        <p:spPr>
          <a:xfrm>
            <a:off x="768096" y="224028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0DF"/>
                </a:solidFill>
              </a:rPr>
              <a:t>AI exam intelligence for Bangladesh first, emerging markets next.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86384" y="281635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8C0DF"/>
                </a:solidFill>
              </a:rPr>
              <a:t>Real past papers + official mark schemes + RAG + adaptive practice in one personalized learning system.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777240" y="370332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1C1130"/>
          </a:solidFill>
          <a:ln w="12700">
            <a:solidFill>
              <a:srgbClr val="FACC15">
                <a:alpha val="9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" y="377190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ACC15"/>
                </a:solidFill>
              </a:rPr>
              <a:t>DATABASE-FIRST MOCK TESTS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2944368" y="370332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1C1130"/>
          </a:solidFill>
          <a:ln w="12700">
            <a:solidFill>
              <a:srgbClr val="7DD3FC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54096" y="377190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DD3FC"/>
                </a:solidFill>
              </a:rPr>
              <a:t>RAG + LLM SOLVER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4663440" y="370332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1C1130"/>
          </a:solidFill>
          <a:ln w="12700">
            <a:solidFill>
              <a:srgbClr val="86EFAC">
                <a:alpha val="9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377190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86EFAC"/>
                </a:solidFill>
              </a:rPr>
              <a:t>BANGLA-READY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8229600" y="1115568"/>
            <a:ext cx="3017520" cy="4343400"/>
          </a:xfrm>
          <a:prstGeom prst="roundRect">
            <a:avLst>
              <a:gd name="adj" fmla="val 1818"/>
            </a:avLst>
          </a:prstGeom>
          <a:solidFill>
            <a:srgbClr val="0C1720"/>
          </a:solidFill>
          <a:ln w="12700">
            <a:solidFill>
              <a:srgbClr val="244D6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03920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FF"/>
                </a:solidFill>
              </a:rPr>
              <a:t>3-minute demo story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522208" y="2011680"/>
            <a:ext cx="23317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C8C0DF"/>
                </a:solidFill>
              </a:rPr>
              <a:t>Problem: coaching inequality</a:t>
            </a:r>
            <a:endParaRPr lang="en-US" sz="1300" dirty="0"/>
          </a:p>
          <a:p>
            <a:r>
              <a:rPr lang="en-US" sz="1300" dirty="0">
                <a:solidFill>
                  <a:srgbClr val="C8C0DF"/>
                </a:solidFill>
              </a:rPr>
              <a:t>Solution: personalized exam tutor</a:t>
            </a:r>
            <a:endParaRPr lang="en-US" sz="1300" dirty="0"/>
          </a:p>
          <a:p>
            <a:r>
              <a:rPr lang="en-US" sz="1300" dirty="0">
                <a:solidFill>
                  <a:srgbClr val="C8C0DF"/>
                </a:solidFill>
              </a:rPr>
              <a:t>Demo: Solver, Mock Test, Dashboard</a:t>
            </a:r>
            <a:endParaRPr lang="en-US" sz="1300" dirty="0"/>
          </a:p>
          <a:p>
            <a:r>
              <a:rPr lang="en-US" sz="1300" dirty="0">
                <a:solidFill>
                  <a:srgbClr val="C8C0DF"/>
                </a:solidFill>
              </a:rPr>
              <a:t>AI: OCR, RAG, LLM validation</a:t>
            </a:r>
            <a:endParaRPr lang="en-US" sz="1300" dirty="0"/>
          </a:p>
          <a:p>
            <a:r>
              <a:rPr lang="en-US" sz="1300" dirty="0">
                <a:solidFill>
                  <a:srgbClr val="C8C0DF"/>
                </a:solidFill>
              </a:rPr>
              <a:t>Impact: mastery, access, scale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31520" y="644652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86A8"/>
                </a:solidFill>
              </a:rPr>
              <a:t>ScholarHAAB | BuildFest Track 1 - Education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86A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C"/>
          </a:solidFill>
          <a:ln w="12700">
            <a:solidFill>
              <a:srgbClr val="020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20624">
              <a:alpha val="94000"/>
            </a:srgbClr>
          </a:solidFill>
          <a:ln w="12700">
            <a:solidFill>
              <a:srgbClr val="1206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48463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3108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13716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62179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44805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7432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058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58521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41148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3774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400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54864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7490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20116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7432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512064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3832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6459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6492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75488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12880" y="30175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12801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61264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43891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26517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9144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57607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40233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2860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486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5394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36576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920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00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</a:rPr>
              <a:t>SCHOLAR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457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</a:rPr>
              <a:t>HAAB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31520" y="8686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learning support is not equally distributed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749808" y="16642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8C0DF"/>
                </a:solidFill>
              </a:rPr>
              <a:t>Students compete in exams, but support quality depends on location, income, and teacher time.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777240" y="242316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10071F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FF"/>
                </a:solidFill>
              </a:rPr>
              <a:t>Bangladesh urgency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05840" y="3127248"/>
            <a:ext cx="27432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C8C0DF"/>
                </a:solidFill>
              </a:rPr>
              <a:t>Overcrowded classrooms and coaching dependency</a:t>
            </a:r>
            <a:endParaRPr lang="en-US" sz="1250" dirty="0"/>
          </a:p>
          <a:p>
            <a:r>
              <a:rPr lang="en-US" sz="1250" dirty="0">
                <a:solidFill>
                  <a:srgbClr val="C8C0DF"/>
                </a:solidFill>
              </a:rPr>
              <a:t>Students need exam-style feedback instantly</a:t>
            </a:r>
            <a:endParaRPr lang="en-US" sz="1250" dirty="0"/>
          </a:p>
          <a:p>
            <a:r>
              <a:rPr lang="en-US" sz="1250" dirty="0">
                <a:solidFill>
                  <a:srgbClr val="C8C0DF"/>
                </a:solidFill>
              </a:rPr>
              <a:t>Rural learners need low-bandwidth support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389120" y="242316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10071F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FF"/>
                </a:solidFill>
              </a:rPr>
              <a:t>Global pattern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617720" y="3127248"/>
            <a:ext cx="27432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C8C0DF"/>
                </a:solidFill>
              </a:rPr>
              <a:t>Generic AI gives confident but unsupported answers</a:t>
            </a:r>
            <a:endParaRPr lang="en-US" sz="1250" dirty="0"/>
          </a:p>
          <a:p>
            <a:r>
              <a:rPr lang="en-US" sz="1250" dirty="0">
                <a:solidFill>
                  <a:srgbClr val="C8C0DF"/>
                </a:solidFill>
              </a:rPr>
              <a:t>Teachers lack scalable personalization tools</a:t>
            </a:r>
            <a:endParaRPr lang="en-US" sz="1250" dirty="0"/>
          </a:p>
          <a:p>
            <a:r>
              <a:rPr lang="en-US" sz="1250" dirty="0">
                <a:solidFill>
                  <a:srgbClr val="C8C0DF"/>
                </a:solidFill>
              </a:rPr>
              <a:t>Skill-employment mismatch starts in school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001000" y="242316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10071F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FF"/>
                </a:solidFill>
              </a:rPr>
              <a:t>Core gap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229600" y="3127248"/>
            <a:ext cx="27432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C8C0DF"/>
                </a:solidFill>
              </a:rPr>
              <a:t>Students do not just need answers</a:t>
            </a:r>
            <a:endParaRPr lang="en-US" sz="1250" dirty="0"/>
          </a:p>
          <a:p>
            <a:r>
              <a:rPr lang="en-US" sz="1250" dirty="0">
                <a:solidFill>
                  <a:srgbClr val="C8C0DF"/>
                </a:solidFill>
              </a:rPr>
              <a:t>They need curriculum aligned practice</a:t>
            </a:r>
            <a:endParaRPr lang="en-US" sz="1250" dirty="0"/>
          </a:p>
          <a:p>
            <a:r>
              <a:rPr lang="en-US" sz="1250" dirty="0">
                <a:solidFill>
                  <a:srgbClr val="C8C0DF"/>
                </a:solidFill>
              </a:rPr>
              <a:t>They need mark-scheme reasoning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31520" y="644652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86A8"/>
                </a:solidFill>
              </a:rPr>
              <a:t>ScholarHAAB | BuildFest Track 1 - Education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86A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C"/>
          </a:solidFill>
          <a:ln w="12700">
            <a:solidFill>
              <a:srgbClr val="020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20624">
              <a:alpha val="94000"/>
            </a:srgbClr>
          </a:solidFill>
          <a:ln w="12700">
            <a:solidFill>
              <a:srgbClr val="1206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48463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3108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13716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62179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44805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7432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058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58521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41148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3774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400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54864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7490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20116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7432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512064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3832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6459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6492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75488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12880" y="30175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12801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61264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43891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26517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9144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57607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40233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2860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486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5394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36576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920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00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</a:rPr>
              <a:t>SCHOLAR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457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</a:rPr>
              <a:t>HAAB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31520" y="8686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Solution: a source-truth AI learning system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749808" y="16642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8C0DF"/>
                </a:solidFill>
              </a:rPr>
              <a:t>ScholarHAAB turns past papers, mark schemes, and student attempts into a personalized tutor.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22960" y="2423160"/>
            <a:ext cx="48463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C8C0DF"/>
                </a:solidFill>
              </a:rPr>
              <a:t>Solver: ChatGPT-like doubt clarification from RAG + LLM</a:t>
            </a:r>
            <a:endParaRPr lang="en-US" sz="1400" dirty="0"/>
          </a:p>
          <a:p>
            <a:r>
              <a:rPr lang="en-US" sz="1400" dirty="0">
                <a:solidFill>
                  <a:srgbClr val="C8C0DF"/>
                </a:solidFill>
              </a:rPr>
              <a:t>Mock Test: real database questions, 1-10 items, one-by-one exam flow</a:t>
            </a:r>
            <a:endParaRPr lang="en-US" sz="1400" dirty="0"/>
          </a:p>
          <a:p>
            <a:r>
              <a:rPr lang="en-US" sz="1400" dirty="0">
                <a:solidFill>
                  <a:srgbClr val="C8C0DF"/>
                </a:solidFill>
              </a:rPr>
              <a:t>Exam Mode: direct metadata filters for subject, board, topic, and paper type</a:t>
            </a:r>
            <a:endParaRPr lang="en-US" sz="1400" dirty="0"/>
          </a:p>
          <a:p>
            <a:r>
              <a:rPr lang="en-US" sz="1400" dirty="0">
                <a:solidFill>
                  <a:srgbClr val="C8C0DF"/>
                </a:solidFill>
              </a:rPr>
              <a:t>Adaptive Mode: profile-aware difficulty and weak-topic recovery</a:t>
            </a:r>
            <a:endParaRPr lang="en-US" sz="1400" dirty="0"/>
          </a:p>
          <a:p>
            <a:r>
              <a:rPr lang="en-US" sz="1400" dirty="0">
                <a:solidFill>
                  <a:srgbClr val="C8C0DF"/>
                </a:solidFill>
              </a:rPr>
              <a:t>Dashboard: learning analytics for students and future teacher copilots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00800" y="2029968"/>
            <a:ext cx="4297680" cy="3154680"/>
          </a:xfrm>
          <a:prstGeom prst="roundRect">
            <a:avLst>
              <a:gd name="adj" fmla="val 1739"/>
            </a:avLst>
          </a:prstGeom>
          <a:solidFill>
            <a:srgbClr val="090E1A"/>
          </a:solidFill>
          <a:ln w="12700">
            <a:solidFill>
              <a:srgbClr val="3150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1FF"/>
                </a:solidFill>
              </a:rPr>
              <a:t>What makes it different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6720840" y="283464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1C1130"/>
          </a:solidFill>
          <a:ln w="12700">
            <a:solidFill>
              <a:srgbClr val="FACC15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0568" y="2903220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ACC15"/>
                </a:solidFill>
              </a:rPr>
              <a:t>NO CONFIDENCE BADGES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8641080" y="283464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1C1130"/>
          </a:solidFill>
          <a:ln w="12700">
            <a:solidFill>
              <a:srgbClr val="FACC15">
                <a:alpha val="9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50808" y="2903220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ACC15"/>
                </a:solidFill>
              </a:rPr>
              <a:t>NO AI-FEEL TEXT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6720840" y="3474720"/>
            <a:ext cx="34290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8C0DF"/>
                </a:solidFill>
              </a:rPr>
              <a:t>The product only shows student-facing language: question, answer, mark scheme, solution, next practice.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31520" y="644652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86A8"/>
                </a:solidFill>
              </a:rPr>
              <a:t>ScholarHAAB | BuildFest Track 1 - Education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86A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C"/>
          </a:solidFill>
          <a:ln w="12700">
            <a:solidFill>
              <a:srgbClr val="020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20624">
              <a:alpha val="94000"/>
            </a:srgbClr>
          </a:solidFill>
          <a:ln w="12700">
            <a:solidFill>
              <a:srgbClr val="1206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48463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3108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13716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62179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44805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7432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058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58521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41148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3774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400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54864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7490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20116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7432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512064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3832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6459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6492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75488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12880" y="30175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12801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61264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43891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26517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9144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57607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40233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2860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486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5394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36576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920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00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</a:rPr>
              <a:t>SCHOLAR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457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</a:rPr>
              <a:t>HAAB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31520" y="8686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flow: from doubt to assessed mastery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749808" y="16642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8C0DF"/>
                </a:solidFill>
              </a:rPr>
              <a:t>A student can ask, practice, submit, get marked, and see the next best task.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713232" y="2148840"/>
            <a:ext cx="1874520" cy="2651760"/>
          </a:xfrm>
          <a:prstGeom prst="roundRect">
            <a:avLst>
              <a:gd name="adj" fmla="val 2927"/>
            </a:avLst>
          </a:prstGeom>
          <a:solidFill>
            <a:srgbClr val="0B1020"/>
          </a:solidFill>
          <a:ln w="12700">
            <a:solidFill>
              <a:srgbClr val="244D6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112" y="2395728"/>
            <a:ext cx="384048" cy="384048"/>
          </a:xfrm>
          <a:prstGeom prst="ellipse">
            <a:avLst/>
          </a:prstGeom>
          <a:solidFill>
            <a:srgbClr val="9B4DFF"/>
          </a:solidFill>
          <a:ln w="12700">
            <a:solidFill>
              <a:srgbClr val="9B4D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1268" y="24734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96112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FF"/>
                </a:solidFill>
              </a:rPr>
              <a:t>Ask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96112" y="3401568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8C0DF"/>
                </a:solidFill>
              </a:rPr>
              <a:t>Text or image question in Solver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697480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65CFF"/>
                </a:solidFill>
              </a:rPr>
              <a:t>&gt;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2980944" y="2148840"/>
            <a:ext cx="1874520" cy="2651760"/>
          </a:xfrm>
          <a:prstGeom prst="roundRect">
            <a:avLst>
              <a:gd name="adj" fmla="val 2927"/>
            </a:avLst>
          </a:prstGeom>
          <a:solidFill>
            <a:srgbClr val="10071F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63824" y="2395728"/>
            <a:ext cx="384048" cy="384048"/>
          </a:xfrm>
          <a:prstGeom prst="ellipse">
            <a:avLst/>
          </a:prstGeom>
          <a:solidFill>
            <a:srgbClr val="9B4DFF"/>
          </a:solidFill>
          <a:ln w="12700">
            <a:solidFill>
              <a:srgbClr val="9B4D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68980" y="24734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163824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FF"/>
                </a:solidFill>
              </a:rPr>
              <a:t>Retrieve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3163824" y="3401568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8C0DF"/>
                </a:solidFill>
              </a:rPr>
              <a:t>Supabase documents + pgvector or direct metadata query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965192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65CFF"/>
                </a:solidFill>
              </a:rPr>
              <a:t>&gt;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248656" y="2148840"/>
            <a:ext cx="1874520" cy="2651760"/>
          </a:xfrm>
          <a:prstGeom prst="roundRect">
            <a:avLst>
              <a:gd name="adj" fmla="val 2927"/>
            </a:avLst>
          </a:prstGeom>
          <a:solidFill>
            <a:srgbClr val="0B1020"/>
          </a:solidFill>
          <a:ln w="12700">
            <a:solidFill>
              <a:srgbClr val="244D6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31536" y="2395728"/>
            <a:ext cx="384048" cy="384048"/>
          </a:xfrm>
          <a:prstGeom prst="ellipse">
            <a:avLst/>
          </a:prstGeom>
          <a:solidFill>
            <a:srgbClr val="9B4DFF"/>
          </a:solidFill>
          <a:ln w="12700">
            <a:solidFill>
              <a:srgbClr val="9B4D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36692" y="24734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31536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FF"/>
                </a:solidFill>
              </a:rPr>
              <a:t>Answer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431536" y="3401568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8C0DF"/>
                </a:solidFill>
              </a:rPr>
              <a:t>LLM explains using curriculum and source chunks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7232904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65CFF"/>
                </a:solidFill>
              </a:rPr>
              <a:t>&gt;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7516368" y="2148840"/>
            <a:ext cx="1874520" cy="2651760"/>
          </a:xfrm>
          <a:prstGeom prst="roundRect">
            <a:avLst>
              <a:gd name="adj" fmla="val 2927"/>
            </a:avLst>
          </a:prstGeom>
          <a:solidFill>
            <a:srgbClr val="10071F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99248" y="2395728"/>
            <a:ext cx="384048" cy="384048"/>
          </a:xfrm>
          <a:prstGeom prst="ellipse">
            <a:avLst/>
          </a:prstGeom>
          <a:solidFill>
            <a:srgbClr val="9B4DFF"/>
          </a:solidFill>
          <a:ln w="12700">
            <a:solidFill>
              <a:srgbClr val="9B4D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04404" y="24734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699248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FF"/>
                </a:solidFill>
              </a:rPr>
              <a:t>Assess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7699248" y="3401568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8C0DF"/>
                </a:solidFill>
              </a:rPr>
              <a:t>Mock answer checked against stored mark scheme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9500616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65CFF"/>
                </a:solidFill>
              </a:rPr>
              <a:t>&gt;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9784080" y="2148840"/>
            <a:ext cx="1874520" cy="2651760"/>
          </a:xfrm>
          <a:prstGeom prst="roundRect">
            <a:avLst>
              <a:gd name="adj" fmla="val 2927"/>
            </a:avLst>
          </a:prstGeom>
          <a:solidFill>
            <a:srgbClr val="0B1020"/>
          </a:solidFill>
          <a:ln w="12700">
            <a:solidFill>
              <a:srgbClr val="244D6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966960" y="2395728"/>
            <a:ext cx="384048" cy="384048"/>
          </a:xfrm>
          <a:prstGeom prst="ellipse">
            <a:avLst/>
          </a:prstGeom>
          <a:solidFill>
            <a:srgbClr val="9B4DFF"/>
          </a:solidFill>
          <a:ln w="12700">
            <a:solidFill>
              <a:srgbClr val="9B4D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72116" y="24734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96696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FF"/>
                </a:solidFill>
              </a:rPr>
              <a:t>Adapt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9966960" y="3401568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8C0DF"/>
                </a:solidFill>
              </a:rPr>
              <a:t>Dashboard updates weak topics and difficulty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731520" y="644652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86A8"/>
                </a:solidFill>
              </a:rPr>
              <a:t>ScholarHAAB | BuildFest Track 1 - Education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86A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C"/>
          </a:solidFill>
          <a:ln w="12700">
            <a:solidFill>
              <a:srgbClr val="020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20624">
              <a:alpha val="94000"/>
            </a:srgbClr>
          </a:solidFill>
          <a:ln w="12700">
            <a:solidFill>
              <a:srgbClr val="1206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48463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3108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13716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62179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44805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7432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058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58521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41148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3774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400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54864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7490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20116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7432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512064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3832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6459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6492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75488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12880" y="30175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12801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61264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43891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26517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9144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57607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40233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2860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486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5394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36576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920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00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</a:rPr>
              <a:t>SCHOLAR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457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</a:rPr>
              <a:t>HAAB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31520" y="8686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approach: RAG where needed, direct database where better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749808" y="16642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8C0DF"/>
                </a:solidFill>
              </a:rPr>
              <a:t>The architecture is intentionally practical: retrieval for doubts, exact queries for exams and mock tests.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685800" y="2148840"/>
            <a:ext cx="1719072" cy="1234440"/>
          </a:xfrm>
          <a:prstGeom prst="roundRect">
            <a:avLst>
              <a:gd name="adj" fmla="val 4444"/>
            </a:avLst>
          </a:prstGeom>
          <a:solidFill>
            <a:srgbClr val="0A1020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816" y="23591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1FF"/>
                </a:solidFill>
              </a:rPr>
              <a:t>Input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13816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8C0DF"/>
                </a:solidFill>
              </a:rPr>
              <a:t>Text or image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542032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65CFF"/>
                </a:solidFill>
              </a:rPr>
              <a:t>&gt;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2971800" y="2148840"/>
            <a:ext cx="1719072" cy="1234440"/>
          </a:xfrm>
          <a:prstGeom prst="roundRect">
            <a:avLst>
              <a:gd name="adj" fmla="val 4444"/>
            </a:avLst>
          </a:prstGeom>
          <a:solidFill>
            <a:srgbClr val="0A1020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99816" y="23591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1FF"/>
                </a:solidFill>
              </a:rPr>
              <a:t>OCR / Router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3099816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8C0DF"/>
                </a:solidFill>
              </a:rPr>
              <a:t>Tesseract + intent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28032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65CFF"/>
                </a:solidFill>
              </a:rPr>
              <a:t>&gt;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5257800" y="2148840"/>
            <a:ext cx="1719072" cy="1234440"/>
          </a:xfrm>
          <a:prstGeom prst="roundRect">
            <a:avLst>
              <a:gd name="adj" fmla="val 4444"/>
            </a:avLst>
          </a:prstGeom>
          <a:solidFill>
            <a:srgbClr val="0A102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85816" y="23591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1FF"/>
                </a:solidFill>
              </a:rPr>
              <a:t>Database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385816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8C0DF"/>
                </a:solidFill>
              </a:rPr>
              <a:t>Supabase documents, metadata, pgvector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114032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65CFF"/>
                </a:solidFill>
              </a:rPr>
              <a:t>&gt;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7543800" y="2148840"/>
            <a:ext cx="1719072" cy="1234440"/>
          </a:xfrm>
          <a:prstGeom prst="roundRect">
            <a:avLst>
              <a:gd name="adj" fmla="val 4444"/>
            </a:avLst>
          </a:prstGeom>
          <a:solidFill>
            <a:srgbClr val="0A1020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1816" y="23591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1FF"/>
                </a:solidFill>
              </a:rPr>
              <a:t>LLM Layer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671816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8C0DF"/>
                </a:solidFill>
              </a:rPr>
              <a:t>Gemini primary, Groq fallback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400032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65CFF"/>
                </a:solidFill>
              </a:rPr>
              <a:t>&gt;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9829800" y="2148840"/>
            <a:ext cx="1719072" cy="1234440"/>
          </a:xfrm>
          <a:prstGeom prst="roundRect">
            <a:avLst>
              <a:gd name="adj" fmla="val 4444"/>
            </a:avLst>
          </a:prstGeom>
          <a:solidFill>
            <a:srgbClr val="0A1020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57816" y="23591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1FF"/>
                </a:solidFill>
              </a:rPr>
              <a:t>Output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9957816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8C0DF"/>
                </a:solidFill>
              </a:rPr>
              <a:t>Answer, mark scheme, next task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14400" y="43434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151023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4590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</a:rPr>
              <a:t>Exam and Mock Test query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063240" y="4572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WHERE subject = ? AND topic = ? AND type = 'past_paper'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400800" y="434340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062019"/>
          </a:solidFill>
          <a:ln w="12700">
            <a:solidFill>
              <a:srgbClr val="1F7A4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29400" y="45902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</a:rPr>
              <a:t>Validation principle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229600" y="4498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8C0DF"/>
                </a:solidFill>
              </a:rPr>
              <a:t>LLM may explain, but the solution stays anchored to stored mark scheme content.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31520" y="644652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86A8"/>
                </a:solidFill>
              </a:rPr>
              <a:t>ScholarHAAB | BuildFest Track 1 - Education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86A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C"/>
          </a:solidFill>
          <a:ln w="12700">
            <a:solidFill>
              <a:srgbClr val="020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20624">
              <a:alpha val="94000"/>
            </a:srgbClr>
          </a:solidFill>
          <a:ln w="12700">
            <a:solidFill>
              <a:srgbClr val="1206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48463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3108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13716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62179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44805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7432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058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58521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41148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3774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400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54864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7490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20116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7432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512064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3832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6459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6492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75488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12880" y="30175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12801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61264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43891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26517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9144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57607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40233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2860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486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5394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36576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920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00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</a:rPr>
              <a:t>SCHOLAR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457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</a:rPr>
              <a:t>HAAB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31520" y="8686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Personalization, curriculum alignment, and accessibility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749808" y="16642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8C0DF"/>
                </a:solidFill>
              </a:rPr>
              <a:t>The system adapts learning without breaking the exam source of truth.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822960" y="2194560"/>
            <a:ext cx="3017520" cy="2560320"/>
          </a:xfrm>
          <a:prstGeom prst="roundRect">
            <a:avLst>
              <a:gd name="adj" fmla="val 2143"/>
            </a:avLst>
          </a:prstGeom>
          <a:solidFill>
            <a:srgbClr val="10071F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2487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1FF"/>
                </a:solidFill>
              </a:rPr>
              <a:t>Personalization logic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051560" y="2880360"/>
            <a:ext cx="23317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C8C0DF"/>
                </a:solidFill>
              </a:rPr>
              <a:t>Student profile: board, subject, weak topics</a:t>
            </a:r>
            <a:endParaRPr lang="en-US" sz="1150" dirty="0"/>
          </a:p>
          <a:p>
            <a:r>
              <a:rPr lang="en-US" sz="1150" dirty="0">
                <a:solidFill>
                  <a:srgbClr val="C8C0DF"/>
                </a:solidFill>
              </a:rPr>
              <a:t>Adaptive difficulty from recent attempts</a:t>
            </a:r>
            <a:endParaRPr lang="en-US" sz="1150" dirty="0"/>
          </a:p>
          <a:p>
            <a:r>
              <a:rPr lang="en-US" sz="1150" dirty="0">
                <a:solidFill>
                  <a:srgbClr val="C8C0DF"/>
                </a:solidFill>
              </a:rPr>
              <a:t>Next-best practice queue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0" y="2194560"/>
            <a:ext cx="3017520" cy="2560320"/>
          </a:xfrm>
          <a:prstGeom prst="roundRect">
            <a:avLst>
              <a:gd name="adj" fmla="val 2143"/>
            </a:avLst>
          </a:prstGeom>
          <a:solidFill>
            <a:srgbClr val="10071F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487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1FF"/>
                </a:solidFill>
              </a:rPr>
              <a:t>Curriculum alignment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4800600" y="2880360"/>
            <a:ext cx="23317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C8C0DF"/>
                </a:solidFill>
              </a:rPr>
              <a:t>Metadata filters by board, subject, topic, type</a:t>
            </a:r>
            <a:endParaRPr lang="en-US" sz="1150" dirty="0"/>
          </a:p>
          <a:p>
            <a:r>
              <a:rPr lang="en-US" sz="1150" dirty="0">
                <a:solidFill>
                  <a:srgbClr val="C8C0DF"/>
                </a:solidFill>
              </a:rPr>
              <a:t>Past-paper and mark-scheme chunks</a:t>
            </a:r>
            <a:endParaRPr lang="en-US" sz="1150" dirty="0"/>
          </a:p>
          <a:p>
            <a:r>
              <a:rPr lang="en-US" sz="1150" dirty="0">
                <a:solidFill>
                  <a:srgbClr val="C8C0DF"/>
                </a:solidFill>
              </a:rPr>
              <a:t>Formula rendering and structured reasoning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21040" y="2194560"/>
            <a:ext cx="3017520" cy="2560320"/>
          </a:xfrm>
          <a:prstGeom prst="roundRect">
            <a:avLst>
              <a:gd name="adj" fmla="val 2143"/>
            </a:avLst>
          </a:prstGeom>
          <a:solidFill>
            <a:srgbClr val="10071F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49640" y="2487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1FF"/>
                </a:solidFill>
              </a:rPr>
              <a:t>Accessibility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8549640" y="2880360"/>
            <a:ext cx="23317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C8C0DF"/>
                </a:solidFill>
              </a:rPr>
              <a:t>Bangla-ready labels and explanations</a:t>
            </a:r>
            <a:endParaRPr lang="en-US" sz="1150" dirty="0"/>
          </a:p>
          <a:p>
            <a:r>
              <a:rPr lang="en-US" sz="1150" dirty="0">
                <a:solidFill>
                  <a:srgbClr val="C8C0DF"/>
                </a:solidFill>
              </a:rPr>
              <a:t>Image upload for printed questions</a:t>
            </a:r>
            <a:endParaRPr lang="en-US" sz="1150" dirty="0"/>
          </a:p>
          <a:p>
            <a:r>
              <a:rPr lang="en-US" sz="1150" dirty="0">
                <a:solidFill>
                  <a:srgbClr val="C8C0DF"/>
                </a:solidFill>
              </a:rPr>
              <a:t>Low-bandwidth, text-first experience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31520" y="644652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86A8"/>
                </a:solidFill>
              </a:rPr>
              <a:t>ScholarHAAB | BuildFest Track 1 - Education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86A8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C"/>
          </a:solidFill>
          <a:ln w="12700">
            <a:solidFill>
              <a:srgbClr val="020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20624">
              <a:alpha val="94000"/>
            </a:srgbClr>
          </a:solidFill>
          <a:ln w="12700">
            <a:solidFill>
              <a:srgbClr val="1206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48463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3108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13716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62179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44805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7432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058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58521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41148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3774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400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54864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7490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20116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7432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512064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3832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6459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6492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75488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12880" y="30175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12801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61264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43891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26517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9144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57607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40233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2860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486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5394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36576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920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00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</a:rPr>
              <a:t>SCHOLAR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457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</a:rPr>
              <a:t>HAAB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31520" y="8686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measurement and scale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749808" y="16642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8C0DF"/>
                </a:solidFill>
              </a:rPr>
              <a:t>ScholarHAAB is designed for measurable learning gains, not vanity AI responses.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822960" y="224028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062019"/>
          </a:solidFill>
          <a:ln w="12700">
            <a:solidFill>
              <a:srgbClr val="1F7A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2468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6EFAC"/>
                </a:solidFill>
              </a:rPr>
              <a:t>+20-30%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2423160" y="25420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C0DF"/>
                </a:solidFill>
              </a:rPr>
              <a:t>target improvement in topic mastery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09360" y="224028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10071F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2468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65CFF"/>
                </a:solidFill>
              </a:rPr>
              <a:t>-15%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7909560" y="25420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C0DF"/>
                </a:solidFill>
              </a:rPr>
              <a:t>target reduction in dropout risk through early weakness detection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22960" y="374904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10071F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1560" y="39776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65CFF"/>
                </a:solidFill>
              </a:rPr>
              <a:t>10x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2423160" y="40507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C0DF"/>
                </a:solidFill>
              </a:rPr>
              <a:t>more practice cycles per teacher hour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309360" y="374904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10071F"/>
          </a:solidFill>
          <a:ln w="12700">
            <a:solidFill>
              <a:srgbClr val="2A18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39776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65CFF"/>
                </a:solidFill>
              </a:rPr>
              <a:t>1-10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909560" y="40507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C0DF"/>
                </a:solidFill>
              </a:rPr>
              <a:t>database-first mock questions per session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914400" y="550468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C0DF"/>
                </a:solidFill>
              </a:rPr>
              <a:t>Replication path: Bangladesh exam boards -&gt; South Asia -&gt; emerging-market curricula. The same modular engine can localize content, language, metadata, and assessment style.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31520" y="644652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86A8"/>
                </a:solidFill>
              </a:rPr>
              <a:t>ScholarHAAB | BuildFest Track 1 - Education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86A8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C"/>
          </a:solidFill>
          <a:ln w="12700">
            <a:solidFill>
              <a:srgbClr val="020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20624">
              <a:alpha val="94000"/>
            </a:srgbClr>
          </a:solidFill>
          <a:ln w="12700">
            <a:solidFill>
              <a:srgbClr val="1206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48463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3108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13716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62179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44805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7432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058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58521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41148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3774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400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54864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7490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20116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7432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512064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3832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6459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6492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754880"/>
            <a:ext cx="32004" cy="32004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12880" y="30175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12801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612648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438912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265176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9144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576072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402336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28600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48640"/>
            <a:ext cx="32004" cy="32004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539496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3657600"/>
            <a:ext cx="16459" cy="16459"/>
          </a:xfrm>
          <a:prstGeom prst="ellipse">
            <a:avLst/>
          </a:prstGeom>
          <a:solidFill>
            <a:srgbClr val="B65C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920240"/>
            <a:ext cx="16459" cy="16459"/>
          </a:xfrm>
          <a:prstGeom prst="ellipse">
            <a:avLst/>
          </a:prstGeom>
          <a:solidFill>
            <a:srgbClr val="B9A8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00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</a:rPr>
              <a:t>SCHOLAR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457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</a:rPr>
              <a:t>HAAB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31520" y="8686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180-second pitch close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749808" y="16642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8C0DF"/>
                </a:solidFill>
              </a:rPr>
              <a:t>We are not building another chatbot. We are building the learning infrastructure layer for exam preparation.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868680" y="2240280"/>
            <a:ext cx="10424160" cy="3063240"/>
          </a:xfrm>
          <a:prstGeom prst="roundRect">
            <a:avLst>
              <a:gd name="adj" fmla="val 1791"/>
            </a:avLst>
          </a:prstGeom>
          <a:solidFill>
            <a:srgbClr val="0B1020"/>
          </a:solidFill>
          <a:ln w="12700">
            <a:solidFill>
              <a:srgbClr val="244D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70432" y="2578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</a:rPr>
              <a:t>Final line for demo video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170432" y="3063240"/>
            <a:ext cx="9098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1FF"/>
                </a:solidFill>
              </a:rPr>
              <a:t>ScholarHAAB can help a student in Dhaka, a village learner with one phone, or a teacher managing 70 students move from guessing to guided mastery - with real exam evidence behind every practice cycle.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188720" y="4251960"/>
            <a:ext cx="79552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C8C0DF"/>
                </a:solidFill>
              </a:rPr>
              <a:t>Now: stabilize database-first mock tests and solver UX</a:t>
            </a:r>
            <a:endParaRPr lang="en-US" sz="1250" dirty="0"/>
          </a:p>
          <a:p>
            <a:r>
              <a:rPr lang="en-US" sz="1250" dirty="0">
                <a:solidFill>
                  <a:srgbClr val="C8C0DF"/>
                </a:solidFill>
              </a:rPr>
              <a:t>Next: Bangla mode, teacher dashboard, offline caching</a:t>
            </a:r>
            <a:endParaRPr lang="en-US" sz="1250" dirty="0"/>
          </a:p>
          <a:p>
            <a:r>
              <a:rPr lang="en-US" sz="1250" dirty="0">
                <a:solidFill>
                  <a:srgbClr val="C8C0DF"/>
                </a:solidFill>
              </a:rPr>
              <a:t>Scale: curriculum packs and verified assessment marketplace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143000" y="5696712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1C1130"/>
          </a:solidFill>
          <a:ln w="12700">
            <a:solidFill>
              <a:srgbClr val="7DD3FC">
                <a:alpha val="9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52728" y="576529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DD3FC"/>
                </a:solidFill>
              </a:rPr>
              <a:t>BUILD FEST TRACK 1 - EDUCATION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3520440" y="5696712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1C1130"/>
          </a:solidFill>
          <a:ln w="12700">
            <a:solidFill>
              <a:srgbClr val="B65CFF">
                <a:alpha val="9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0168" y="5765292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B65CFF"/>
                </a:solidFill>
              </a:rPr>
              <a:t>TOP-TIER EDTECH AI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31520" y="644652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86A8"/>
                </a:solidFill>
              </a:rPr>
              <a:t>ScholarHAAB | BuildFest Track 1 - Education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86A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ScholarHAAB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ScholarHAAB BuildFest Pitch</dc:title>
  <dc:subject>BuildFest EdTech AI pitch</dc:subject>
  <dc:creator>ScholarHAAB</dc:creator>
  <cp:lastModifiedBy>ScholarHAAB</cp:lastModifiedBy>
  <cp:revision>1</cp:revision>
  <dcterms:created xsi:type="dcterms:W3CDTF">2026-06-10T17:06:48Z</dcterms:created>
  <dcterms:modified xsi:type="dcterms:W3CDTF">2026-06-10T17:06:48Z</dcterms:modified>
</cp:coreProperties>
</file>